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3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4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5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8f84a89924568" /><Relationship Type="http://schemas.openxmlformats.org/officeDocument/2006/relationships/extended-properties" Target="/docProps/app.xml" Id="Rd855d243dcf24233" /><Relationship Type="http://schemas.openxmlformats.org/officeDocument/2006/relationships/officeDocument" Target="/ppt/presentation.xml" Id="Ra8669e8cc34341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88970fe624d2b"/>
  </p:sldMasterIdLst>
  <p:notesMasterIdLst>
    <p:notesMasterId xmlns:r="http://schemas.openxmlformats.org/officeDocument/2006/relationships" r:id="R046b16d1a6174d0c"/>
  </p:notesMasterIdLst>
  <p:sldIdLst>
    <p:sldId xmlns:r="http://schemas.openxmlformats.org/officeDocument/2006/relationships" id="256" r:id="R5b85f8f18c004167"/>
    <p:sldId xmlns:r="http://schemas.openxmlformats.org/officeDocument/2006/relationships" id="257" r:id="Rce7d82b535fb461d"/>
    <p:sldId xmlns:r="http://schemas.openxmlformats.org/officeDocument/2006/relationships" id="258" r:id="R281609342b6c4417"/>
    <p:sldId xmlns:r="http://schemas.openxmlformats.org/officeDocument/2006/relationships" id="259" r:id="R39fdac6bd8574677"/>
    <p:sldId xmlns:r="http://schemas.openxmlformats.org/officeDocument/2006/relationships" id="260" r:id="Rfec11b84e7c54e9f"/>
    <p:sldId xmlns:r="http://schemas.openxmlformats.org/officeDocument/2006/relationships" id="261" r:id="R679703d60a994e09"/>
    <p:sldId xmlns:r="http://schemas.openxmlformats.org/officeDocument/2006/relationships" id="262" r:id="Rd51591c29c464eb8"/>
    <p:sldId xmlns:r="http://schemas.openxmlformats.org/officeDocument/2006/relationships" id="263" r:id="R7d7daaf4d78e45b5"/>
    <p:sldId xmlns:r="http://schemas.openxmlformats.org/officeDocument/2006/relationships" id="264" r:id="R14b474055bc442e5"/>
    <p:sldId xmlns:r="http://schemas.openxmlformats.org/officeDocument/2006/relationships" id="265" r:id="Rbdd8eff426764c1a"/>
    <p:sldId xmlns:r="http://schemas.openxmlformats.org/officeDocument/2006/relationships" id="266" r:id="Ra090cee3552549ff"/>
    <p:sldId xmlns:r="http://schemas.openxmlformats.org/officeDocument/2006/relationships" id="267" r:id="Ree951c6985e04843"/>
    <p:sldId xmlns:r="http://schemas.openxmlformats.org/officeDocument/2006/relationships" id="268" r:id="R979e88c600f64b68"/>
    <p:sldId xmlns:r="http://schemas.openxmlformats.org/officeDocument/2006/relationships" id="269" r:id="R3794f0cd7172458d"/>
    <p:sldId xmlns:r="http://schemas.openxmlformats.org/officeDocument/2006/relationships" id="270" r:id="Ra7335fb4bf054ecc"/>
    <p:sldId xmlns:r="http://schemas.openxmlformats.org/officeDocument/2006/relationships" id="271" r:id="R281548c3c77941c4"/>
    <p:sldId xmlns:r="http://schemas.openxmlformats.org/officeDocument/2006/relationships" id="272" r:id="R8805f104c79c44e3"/>
    <p:sldId xmlns:r="http://schemas.openxmlformats.org/officeDocument/2006/relationships" id="273" r:id="Rf88335053d154346"/>
    <p:sldId xmlns:r="http://schemas.openxmlformats.org/officeDocument/2006/relationships" id="274" r:id="R5145c448de55412a"/>
    <p:sldId xmlns:r="http://schemas.openxmlformats.org/officeDocument/2006/relationships" id="275" r:id="R11edfed940ed44c6"/>
    <p:sldId xmlns:r="http://schemas.openxmlformats.org/officeDocument/2006/relationships" id="276" r:id="R45c225078903467a"/>
    <p:sldId xmlns:r="http://schemas.openxmlformats.org/officeDocument/2006/relationships" id="277" r:id="Rb14ce6f0f56b40ec"/>
    <p:sldId xmlns:r="http://schemas.openxmlformats.org/officeDocument/2006/relationships" id="278" r:id="R77f384d709ef4c4a"/>
    <p:sldId xmlns:r="http://schemas.openxmlformats.org/officeDocument/2006/relationships" id="279" r:id="Rd85bb06ba3de4a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40cda1a674e91" /><Relationship Type="http://schemas.openxmlformats.org/officeDocument/2006/relationships/slideMaster" Target="/ppt/slideMasters/slideMaster1.xml" Id="R51c88970fe624d2b" /><Relationship Type="http://schemas.openxmlformats.org/officeDocument/2006/relationships/notesMaster" Target="/ppt/notesMasters/notesMaster1.xml" Id="R046b16d1a6174d0c" /><Relationship Type="http://schemas.openxmlformats.org/officeDocument/2006/relationships/presProps" Target="/ppt/presProps.xml" Id="Rb322c3a54b9c4ec4" /><Relationship Type="http://schemas.openxmlformats.org/officeDocument/2006/relationships/tableStyles" Target="/ppt/tableStyles.xml" Id="R6d26ba2a71044912" /><Relationship Type="http://schemas.openxmlformats.org/officeDocument/2006/relationships/slide" Target="/ppt/slides/slide1.xml" Id="R5b85f8f18c004167" /><Relationship Type="http://schemas.openxmlformats.org/officeDocument/2006/relationships/slide" Target="/ppt/slides/slide2.xml" Id="Rce7d82b535fb461d" /><Relationship Type="http://schemas.openxmlformats.org/officeDocument/2006/relationships/slide" Target="/ppt/slides/slide3.xml" Id="R281609342b6c4417" /><Relationship Type="http://schemas.openxmlformats.org/officeDocument/2006/relationships/slide" Target="/ppt/slides/slide4.xml" Id="R39fdac6bd8574677" /><Relationship Type="http://schemas.openxmlformats.org/officeDocument/2006/relationships/slide" Target="/ppt/slides/slide5.xml" Id="Rfec11b84e7c54e9f" /><Relationship Type="http://schemas.openxmlformats.org/officeDocument/2006/relationships/slide" Target="/ppt/slides/slide6.xml" Id="R679703d60a994e09" /><Relationship Type="http://schemas.openxmlformats.org/officeDocument/2006/relationships/slide" Target="/ppt/slides/slide7.xml" Id="Rd51591c29c464eb8" /><Relationship Type="http://schemas.openxmlformats.org/officeDocument/2006/relationships/slide" Target="/ppt/slides/slide8.xml" Id="R7d7daaf4d78e45b5" /><Relationship Type="http://schemas.openxmlformats.org/officeDocument/2006/relationships/slide" Target="/ppt/slides/slide9.xml" Id="R14b474055bc442e5" /><Relationship Type="http://schemas.openxmlformats.org/officeDocument/2006/relationships/slide" Target="/ppt/slides/slide10.xml" Id="Rbdd8eff426764c1a" /><Relationship Type="http://schemas.openxmlformats.org/officeDocument/2006/relationships/slide" Target="/ppt/slides/slide11.xml" Id="Ra090cee3552549ff" /><Relationship Type="http://schemas.openxmlformats.org/officeDocument/2006/relationships/slide" Target="/ppt/slides/slide12.xml" Id="Ree951c6985e04843" /><Relationship Type="http://schemas.openxmlformats.org/officeDocument/2006/relationships/slide" Target="/ppt/slides/slide13.xml" Id="R979e88c600f64b68" /><Relationship Type="http://schemas.openxmlformats.org/officeDocument/2006/relationships/slide" Target="/ppt/slides/slide14.xml" Id="R3794f0cd7172458d" /><Relationship Type="http://schemas.openxmlformats.org/officeDocument/2006/relationships/slide" Target="/ppt/slides/slide15.xml" Id="Ra7335fb4bf054ecc" /><Relationship Type="http://schemas.openxmlformats.org/officeDocument/2006/relationships/slide" Target="/ppt/slides/slide16.xml" Id="R281548c3c77941c4" /><Relationship Type="http://schemas.openxmlformats.org/officeDocument/2006/relationships/slide" Target="/ppt/slides/slide17.xml" Id="R8805f104c79c44e3" /><Relationship Type="http://schemas.openxmlformats.org/officeDocument/2006/relationships/slide" Target="/ppt/slides/slide18.xml" Id="Rf88335053d154346" /><Relationship Type="http://schemas.openxmlformats.org/officeDocument/2006/relationships/slide" Target="/ppt/slides/slide19.xml" Id="R5145c448de55412a" /><Relationship Type="http://schemas.openxmlformats.org/officeDocument/2006/relationships/slide" Target="/ppt/slides/slide20.xml" Id="R11edfed940ed44c6" /><Relationship Type="http://schemas.openxmlformats.org/officeDocument/2006/relationships/slide" Target="/ppt/slides/slide21.xml" Id="R45c225078903467a" /><Relationship Type="http://schemas.openxmlformats.org/officeDocument/2006/relationships/slide" Target="/ppt/slides/slide22.xml" Id="Rb14ce6f0f56b40ec" /><Relationship Type="http://schemas.openxmlformats.org/officeDocument/2006/relationships/slide" Target="/ppt/slides/slide23.xml" Id="R77f384d709ef4c4a" /><Relationship Type="http://schemas.openxmlformats.org/officeDocument/2006/relationships/slide" Target="/ppt/slides/slide24.xml" Id="Rd85bb06ba3de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1bc3460b441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dcafac2a61414d" /><Relationship Type="http://schemas.openxmlformats.org/officeDocument/2006/relationships/notesMaster" Target="/ppt/notesMasters/notesMaster1.xml" Id="R9dbc929872264a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067d2e11d643df" /><Relationship Type="http://schemas.openxmlformats.org/officeDocument/2006/relationships/notesMaster" Target="/ppt/notesMasters/notesMaster1.xml" Id="R951397c395cf40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bb2ca34210470a" /><Relationship Type="http://schemas.openxmlformats.org/officeDocument/2006/relationships/notesMaster" Target="/ppt/notesMasters/notesMaster1.xml" Id="R46e0f7e8f0214e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6245b7dc3c43eb" /><Relationship Type="http://schemas.openxmlformats.org/officeDocument/2006/relationships/notesMaster" Target="/ppt/notesMasters/notesMaster1.xml" Id="Rfafaf210d5bd4f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65bc2bcada479b" /><Relationship Type="http://schemas.openxmlformats.org/officeDocument/2006/relationships/notesMaster" Target="/ppt/notesMasters/notesMaster1.xml" Id="R53196221c0c348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c88b1a0edf4272" /><Relationship Type="http://schemas.openxmlformats.org/officeDocument/2006/relationships/notesMaster" Target="/ppt/notesMasters/notesMaster1.xml" Id="Rf552beaf0c90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2f1e0224264b7f" /><Relationship Type="http://schemas.openxmlformats.org/officeDocument/2006/relationships/notesMaster" Target="/ppt/notesMasters/notesMaster1.xml" Id="Re46b702aa883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13fff4c6c54f02" /><Relationship Type="http://schemas.openxmlformats.org/officeDocument/2006/relationships/notesMaster" Target="/ppt/notesMasters/notesMaster1.xml" Id="R3c379553578d49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a3453b57854a39" /><Relationship Type="http://schemas.openxmlformats.org/officeDocument/2006/relationships/notesMaster" Target="/ppt/notesMasters/notesMaster1.xml" Id="R6e675d42312249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fb4c2f8cb54c04" /><Relationship Type="http://schemas.openxmlformats.org/officeDocument/2006/relationships/notesMaster" Target="/ppt/notesMasters/notesMaster1.xml" Id="R9ec824fdca1f40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4da90db3a74510" /><Relationship Type="http://schemas.openxmlformats.org/officeDocument/2006/relationships/notesMaster" Target="/ppt/notesMasters/notesMaster1.xml" Id="Re2b0aeaf0d2f4a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7285741c924960" /><Relationship Type="http://schemas.openxmlformats.org/officeDocument/2006/relationships/notesMaster" Target="/ppt/notesMasters/notesMaster1.xml" Id="R51020584de304e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b4f8b0f735476c" /><Relationship Type="http://schemas.openxmlformats.org/officeDocument/2006/relationships/notesMaster" Target="/ppt/notesMasters/notesMaster1.xml" Id="R371684d3526842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fd7f2716e4430d" /><Relationship Type="http://schemas.openxmlformats.org/officeDocument/2006/relationships/notesMaster" Target="/ppt/notesMasters/notesMaster1.xml" Id="R69d4dc673a9543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287719d2ca43a7" /><Relationship Type="http://schemas.openxmlformats.org/officeDocument/2006/relationships/notesMaster" Target="/ppt/notesMasters/notesMaster1.xml" Id="R71d668e052794a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285ed97f744792" /><Relationship Type="http://schemas.openxmlformats.org/officeDocument/2006/relationships/notesMaster" Target="/ppt/notesMasters/notesMaster1.xml" Id="Rfa17f0703d2d4f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72ff9efec04539" /><Relationship Type="http://schemas.openxmlformats.org/officeDocument/2006/relationships/notesMaster" Target="/ppt/notesMasters/notesMaster1.xml" Id="R7cd06ac2b76149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4cc587efdd4565" /><Relationship Type="http://schemas.openxmlformats.org/officeDocument/2006/relationships/notesMaster" Target="/ppt/notesMasters/notesMaster1.xml" Id="Rf763accbb22344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5e4aa0c6d2449a" /><Relationship Type="http://schemas.openxmlformats.org/officeDocument/2006/relationships/notesMaster" Target="/ppt/notesMasters/notesMaster1.xml" Id="Rd2037daf25a744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1432c526344cb8" /><Relationship Type="http://schemas.openxmlformats.org/officeDocument/2006/relationships/notesMaster" Target="/ppt/notesMasters/notesMaster1.xml" Id="Re8ce2f2bcbe848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04f0145864429c" /><Relationship Type="http://schemas.openxmlformats.org/officeDocument/2006/relationships/notesMaster" Target="/ppt/notesMasters/notesMaster1.xml" Id="R0c576a06772141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c74d5aca5294738" /><Relationship Type="http://schemas.openxmlformats.org/officeDocument/2006/relationships/notesMaster" Target="/ppt/notesMasters/notesMaster1.xml" Id="R1b715153194d43d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ac6ec6dd6643cd" /><Relationship Type="http://schemas.openxmlformats.org/officeDocument/2006/relationships/notesMaster" Target="/ppt/notesMasters/notesMaster1.xml" Id="Rfd58d037f5d74b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a51e4f54e1466f" /><Relationship Type="http://schemas.openxmlformats.org/officeDocument/2006/relationships/notesMaster" Target="/ppt/notesMasters/notesMaster1.xml" Id="R883fbad24e224e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https://doi.org/10.1109/JSSC.2016.2616357 ; https://arxiv.org/abs/1704.04760 ; https://doi.org/10.1109/JETCAS.2019.2910232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values: IEEE JSSC Eyeriss DOI 10.1109/JSSC.2016.2616357; TPU ISCA DOI 10.1145/3079856.3080246; Eyeriss v2 JETCAS DOI 10.1109/JETCAS.2019.2910232. All comparisons here qualitative.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 primary sources as slide 6. The published metrics and baselines cannot be converted to our tile-cycle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results/raw/*.log; scripts/analyze_results.py; docs/analytical_checks.md.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results/csv/fixed_latency_results.csv, 32 tiles, tile size 4, base 8/8.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results/csv/variable_latency_results.csv; 32 tiles; deterministic base 8/8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results/csv/bank_scaling_results.csv; 32 tiles; variable base 8/8.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results/csv/adaptation_results.csv; 64 tiles; compute 8/20 and balanced 8/8.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results/csv/adaptation_results.csv; 64 tiles, deterministic variable base 8/8.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results/waveforms/adapt_phase_runtime_adaptive.vcd, parsed by scripts/analyze_results.py. The image is waveform-derived, while quantitative bar charts elsewhere remain native editable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results/csv/equal_storage_results.csv. Extra ping-pong words cannot hold another tile in the implemented 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72f4f73a148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b8130b96b4c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6a1e1523d49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cb18fac644a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cdb3b639c42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26b9aee1a48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F5E72C-A3A4-4C43-9A2F-4819990B6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4D175A-7A68-4B57-B36D-DA98FFEA76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2D13C9-90C0-4FD8-ADF9-9D8D07E12C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971F9B-B4A0-4E9E-ABD7-0A5C61F83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52CF0B-C19F-4E96-A92C-E81A724A7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75A1D6-C4C5-431D-8B22-AB5643E244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08877D-77FC-4656-8903-AD40C82DEF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F93456-82F0-4C96-923B-2A9D3ED8D1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5161F-74EA-4B27-9386-71837B92D0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07B071-1068-4A74-93ED-AD2D5584C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02445846c49fa" /><Relationship Type="http://schemas.openxmlformats.org/officeDocument/2006/relationships/slideLayout" Target="/ppt/slideLayouts/slideLayout1.xml" Id="R56ccbea8529c4958" /><Relationship Type="http://schemas.openxmlformats.org/officeDocument/2006/relationships/slideLayout" Target="/ppt/slideLayouts/slideLayout2.xml" Id="R2221a7dfc216404d" /><Relationship Type="http://schemas.openxmlformats.org/officeDocument/2006/relationships/slideLayout" Target="/ppt/slideLayouts/slideLayout3.xml" Id="Rf714d2f19933416f" /><Relationship Type="http://schemas.openxmlformats.org/officeDocument/2006/relationships/slideLayout" Target="/ppt/slideLayouts/slideLayout4.xml" Id="Rf625db69606040df" /><Relationship Type="http://schemas.openxmlformats.org/officeDocument/2006/relationships/slideLayout" Target="/ppt/slideLayouts/slideLayout5.xml" Id="Rc0402e594fab4b9a" /><Relationship Type="http://schemas.openxmlformats.org/officeDocument/2006/relationships/slideLayout" Target="/ppt/slideLayouts/slideLayout6.xml" Id="Rad8f3d5bcd5b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cbea8529c4958"/>
    <p:sldLayoutId xmlns:r="http://schemas.openxmlformats.org/officeDocument/2006/relationships" id="2147483650" r:id="R2221a7dfc216404d"/>
    <p:sldLayoutId xmlns:r="http://schemas.openxmlformats.org/officeDocument/2006/relationships" id="2147483651" r:id="Rf714d2f19933416f"/>
    <p:sldLayoutId xmlns:r="http://schemas.openxmlformats.org/officeDocument/2006/relationships" id="2147483652" r:id="Rf625db69606040df"/>
    <p:sldLayoutId xmlns:r="http://schemas.openxmlformats.org/officeDocument/2006/relationships" id="2147483653" r:id="Rc0402e594fab4b9a"/>
    <p:sldLayoutId xmlns:r="http://schemas.openxmlformats.org/officeDocument/2006/relationships" id="2147483654" r:id="Rad8f3d5bcd5b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e696390ee45d5" /><Relationship Type="http://schemas.openxmlformats.org/officeDocument/2006/relationships/notesSlide" Target="/ppt/notesSlides/notesSlide1.xml" Id="Ra28fc1b91f1347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a1f027ddb48bd" /><Relationship Type="http://schemas.openxmlformats.org/officeDocument/2006/relationships/notesSlide" Target="/ppt/notesSlides/notesSlide2.xml" Id="R52a0228d25b041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d742772f34715" /><Relationship Type="http://schemas.openxmlformats.org/officeDocument/2006/relationships/notesSlide" Target="/ppt/notesSlides/notesSlide3.xml" Id="R347921f21d4945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934340aa84fa9" /><Relationship Type="http://schemas.openxmlformats.org/officeDocument/2006/relationships/notesSlide" Target="/ppt/notesSlides/notesSlide4.xml" Id="R2db5aa764c2148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c78039fb64ec9" /><Relationship Type="http://schemas.openxmlformats.org/officeDocument/2006/relationships/notesSlide" Target="/ppt/notesSlides/notesSlide5.xml" Id="R496c776be3744a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47113491e4424" /><Relationship Type="http://schemas.openxmlformats.org/officeDocument/2006/relationships/notesSlide" Target="/ppt/notesSlides/notesSlide6.xml" Id="Rc853af3644874b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cc53aacf54d94" /><Relationship Type="http://schemas.openxmlformats.org/officeDocument/2006/relationships/notesSlide" Target="/ppt/notesSlides/notesSlide7.xml" Id="Rc9a1abd0ac5441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d3e2abb374231" /><Relationship Type="http://schemas.openxmlformats.org/officeDocument/2006/relationships/notesSlide" Target="/ppt/notesSlides/notesSlide8.xml" Id="R32094511449146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c13bc6e4e4758" /><Relationship Type="http://schemas.openxmlformats.org/officeDocument/2006/relationships/notesSlide" Target="/ppt/notesSlides/notesSlide9.xml" Id="R8634156df92a44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228459803f4b33" /><Relationship Type="http://schemas.openxmlformats.org/officeDocument/2006/relationships/notesSlide" Target="/ppt/notesSlides/notesSlide10.xml" Id="Re7bc867e3b4942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5e286f55b4e0f" /><Relationship Type="http://schemas.openxmlformats.org/officeDocument/2006/relationships/notesSlide" Target="/ppt/notesSlides/notesSlide11.xml" Id="R31737050266046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236db1ff54b07" /><Relationship Type="http://schemas.openxmlformats.org/officeDocument/2006/relationships/notesSlide" Target="/ppt/notesSlides/notesSlide12.xml" Id="R59b35fb860d24f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ebdfe34974de1" /><Relationship Type="http://schemas.openxmlformats.org/officeDocument/2006/relationships/notesSlide" Target="/ppt/notesSlides/notesSlide13.xml" Id="Rb3a10a28ccec44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bb8f13d7c4b84" /><Relationship Type="http://schemas.openxmlformats.org/officeDocument/2006/relationships/notesSlide" Target="/ppt/notesSlides/notesSlide14.xml" Id="R561db735962049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bac35c758484f" /><Relationship Type="http://schemas.openxmlformats.org/officeDocument/2006/relationships/notesSlide" Target="/ppt/notesSlides/notesSlide15.xml" Id="R30547aa495c448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1f25607c1475f" /><Relationship Type="http://schemas.openxmlformats.org/officeDocument/2006/relationships/notesSlide" Target="/ppt/notesSlides/notesSlide16.xml" Id="R21c997e876a54e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d7a34cbcf4f0c" /><Relationship Type="http://schemas.openxmlformats.org/officeDocument/2006/relationships/chart" Target="/ppt/slides/charts/chart1.xml" Id="Reb71e2c89a1a42cc" /><Relationship Type="http://schemas.openxmlformats.org/officeDocument/2006/relationships/notesSlide" Target="/ppt/notesSlides/notesSlide17.xml" Id="R58ea28b288fc4c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71bfaec334684" /><Relationship Type="http://schemas.openxmlformats.org/officeDocument/2006/relationships/chart" Target="/ppt/slides/charts/chart2.xml" Id="R04b60d79be11461a" /><Relationship Type="http://schemas.openxmlformats.org/officeDocument/2006/relationships/notesSlide" Target="/ppt/notesSlides/notesSlide18.xml" Id="R35dacaead2f345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328b22c0c419a" /><Relationship Type="http://schemas.openxmlformats.org/officeDocument/2006/relationships/chart" Target="/ppt/slides/charts/chart3.xml" Id="R6d3066766c204b46" /><Relationship Type="http://schemas.openxmlformats.org/officeDocument/2006/relationships/notesSlide" Target="/ppt/notesSlides/notesSlide19.xml" Id="R3e310edcbd0b40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6ad48574d40b8" /><Relationship Type="http://schemas.openxmlformats.org/officeDocument/2006/relationships/chart" Target="/ppt/slides/charts/chart4.xml" Id="R4883f94ac5974bec" /><Relationship Type="http://schemas.openxmlformats.org/officeDocument/2006/relationships/notesSlide" Target="/ppt/notesSlides/notesSlide20.xml" Id="R4fe5199b474445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189c6c85542b0" /><Relationship Type="http://schemas.openxmlformats.org/officeDocument/2006/relationships/chart" Target="/ppt/slides/charts/chart5.xml" Id="R15ff357afdb64cff" /><Relationship Type="http://schemas.openxmlformats.org/officeDocument/2006/relationships/notesSlide" Target="/ppt/notesSlides/notesSlide21.xml" Id="Rd3e6064c84ee40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5119641514983" /><Relationship Type="http://schemas.openxmlformats.org/officeDocument/2006/relationships/image" Target="/ppt/media/image.png" Id="Rc95e4779c7554b9d" /><Relationship Type="http://schemas.openxmlformats.org/officeDocument/2006/relationships/notesSlide" Target="/ppt/notesSlides/notesSlide22.xml" Id="Rb119e43cd16549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f2447f7e44895" /><Relationship Type="http://schemas.openxmlformats.org/officeDocument/2006/relationships/notesSlide" Target="/ppt/notesSlides/notesSlide23.xml" Id="R8281287d03354a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55e19aa054e7c" /><Relationship Type="http://schemas.openxmlformats.org/officeDocument/2006/relationships/notesSlide" Target="/ppt/notesSlides/notesSlide24.xml" Id="R14537f5f479547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Single</c:v>
          </c:tx>
          <c:spPr>
            <a:solidFill xmlns:a="http://schemas.openxmlformats.org/drawingml/2006/main">
              <a:srgbClr val="17324B"/>
            </a:solidFill>
          </c:spPr>
          <c:cat>
            <c:strRef>
              <c:f>'Chart Data'!$A$2:$A$4</c:f>
              <c:strCache>
                <c:ptCount val="3"/>
                <c:pt idx="0">
                  <c:v>8/8</c:v>
                </c:pt>
                <c:pt idx="1">
                  <c:v>16/16</c:v>
                </c:pt>
                <c:pt idx="2">
                  <c:v>32/32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640</c:v>
                </c:pt>
                <c:pt idx="1">
                  <c:v>1152</c:v>
                </c:pt>
                <c:pt idx="2">
                  <c:v>2176</c:v>
                </c:pt>
              </c:numCache>
            </c:numRef>
          </c:val>
        </c:ser>
        <c:ser>
          <c:idx val="1"/>
          <c:order val="1"/>
          <c:tx>
            <c:v>Ping-pong</c:v>
          </c:tx>
          <c:spPr>
            <a:solidFill xmlns:a="http://schemas.openxmlformats.org/drawingml/2006/main">
              <a:srgbClr val="168AAD"/>
            </a:solidFill>
          </c:spPr>
          <c:cat>
            <c:strRef>
              <c:f>'Chart Data'!$C$2:$C$4</c:f>
              <c:strCache>
                <c:ptCount val="3"/>
                <c:pt idx="0">
                  <c:v>8/8</c:v>
                </c:pt>
                <c:pt idx="1">
                  <c:v>16/16</c:v>
                </c:pt>
                <c:pt idx="2">
                  <c:v>32/32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361</c:v>
                </c:pt>
                <c:pt idx="1">
                  <c:v>625</c:v>
                </c:pt>
                <c:pt idx="2">
                  <c:v>1153</c:v>
                </c:pt>
              </c:numCache>
            </c:numRef>
          </c:val>
        </c:ser>
        <c:ser>
          <c:idx val="2"/>
          <c:order val="2"/>
          <c:tx>
            <c:v>Fixed 4</c:v>
          </c:tx>
          <c:spPr>
            <a:solidFill xmlns:a="http://schemas.openxmlformats.org/drawingml/2006/main">
              <a:srgbClr val="D86837"/>
            </a:solidFill>
          </c:spPr>
          <c:cat>
            <c:strRef>
              <c:f>'Chart Data'!$E$2:$E$4</c:f>
              <c:strCache>
                <c:ptCount val="3"/>
                <c:pt idx="0">
                  <c:v>8/8</c:v>
                </c:pt>
                <c:pt idx="1">
                  <c:v>16/16</c:v>
                </c:pt>
                <c:pt idx="2">
                  <c:v>32/32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361</c:v>
                </c:pt>
                <c:pt idx="1">
                  <c:v>625</c:v>
                </c:pt>
                <c:pt idx="2">
                  <c:v>1153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7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Total cycles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Total cycles</c:v>
          </c:tx>
          <c:spPr>
            <a:solidFill xmlns:a="http://schemas.openxmlformats.org/drawingml/2006/main">
              <a:srgbClr val="D86837"/>
            </a:solidFill>
          </c:spPr>
          <c:cat>
            <c:strRef>
              <c:f>'Chart Data'!$A$2:$A$4</c:f>
              <c:strCache>
                <c:ptCount val="3"/>
                <c:pt idx="0">
                  <c:v>Single</c:v>
                </c:pt>
                <c:pt idx="1">
                  <c:v>Ping-pong</c:v>
                </c:pt>
                <c:pt idx="2">
                  <c:v>Fixed 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922</c:v>
                </c:pt>
                <c:pt idx="1">
                  <c:v>539</c:v>
                </c:pt>
                <c:pt idx="2">
                  <c:v>497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7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Total cycles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Total cycles</c:v>
          </c:tx>
          <c:spPr>
            <a:solidFill xmlns:a="http://schemas.openxmlformats.org/drawingml/2006/main">
              <a:srgbClr val="168AAD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539</c:v>
                </c:pt>
                <c:pt idx="1">
                  <c:v>497</c:v>
                </c:pt>
                <c:pt idx="2">
                  <c:v>497</c:v>
                </c:pt>
                <c:pt idx="3">
                  <c:v>497</c:v>
                </c:pt>
                <c:pt idx="4">
                  <c:v>497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7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Total cycles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 4</c:v>
          </c:tx>
          <c:spPr>
            <a:solidFill xmlns:a="http://schemas.openxmlformats.org/drawingml/2006/main">
              <a:srgbClr val="D86837"/>
            </a:solidFill>
          </c:spPr>
          <c:cat>
            <c:strRef>
              <c:f>'Chart Data'!$A$2:$A$3</c:f>
              <c:strCache>
                <c:ptCount val="2"/>
                <c:pt idx="0">
                  <c:v>Compute-bound</c:v>
                </c:pt>
                <c:pt idx="1">
                  <c:v>Balanced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1481</c:v>
                </c:pt>
                <c:pt idx="1">
                  <c:v>713</c:v>
                </c:pt>
              </c:numCache>
            </c:numRef>
          </c:val>
        </c:ser>
        <c:ser>
          <c:idx val="1"/>
          <c:order val="1"/>
          <c:tx>
            <c:v>Runtime</c:v>
          </c:tx>
          <c:spPr>
            <a:solidFill xmlns:a="http://schemas.openxmlformats.org/drawingml/2006/main">
              <a:srgbClr val="BD315B"/>
            </a:solidFill>
          </c:spPr>
          <c:cat>
            <c:strRef>
              <c:f>'Chart Data'!$C$2:$C$3</c:f>
              <c:strCache>
                <c:ptCount val="2"/>
                <c:pt idx="0">
                  <c:v>Compute-bound</c:v>
                </c:pt>
                <c:pt idx="1">
                  <c:v>Balanced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1481</c:v>
                </c:pt>
                <c:pt idx="1">
                  <c:v>713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7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Total cycles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Total cycles</c:v>
          </c:tx>
          <c:spPr>
            <a:solidFill xmlns:a="http://schemas.openxmlformats.org/drawingml/2006/main">
              <a:srgbClr val="BD315B"/>
            </a:solidFill>
          </c:spPr>
          <c:cat>
            <c:strRef>
              <c:f>'Chart Data'!$A$2:$A$4</c:f>
              <c:strCache>
                <c:ptCount val="3"/>
                <c:pt idx="0">
                  <c:v>Ping-pong</c:v>
                </c:pt>
                <c:pt idx="1">
                  <c:v>Fixed 4</c:v>
                </c:pt>
                <c:pt idx="2">
                  <c:v>Runtime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1072</c:v>
                </c:pt>
                <c:pt idx="1">
                  <c:v>983</c:v>
                </c:pt>
                <c:pt idx="2">
                  <c:v>1025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7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Total cycles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E04BD-FBEA-45CF-9742-DFF74BC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Runtime-adaptive scratchpad buffering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F4767-E7E6-400B-A8E8-FC37B72F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01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D71ED-EBBE-4B13-9844-FE53343C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4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RTL implementation and controlled performance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E1684-BA86-47A8-8777-AEE11909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868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68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6837"/>
                </a:solidFill>
                <a:latin typeface="Arial"/>
                <a:ea typeface="Arial"/>
                <a:cs typeface="Arial"/>
              </a:rPr>
              <a:t>University VLSI laboratory review  •  14 functional tests  •  129 simulations</a:t>
            </a:r>
          </a:p>
        </p:txBody>
      </p:sp>
    </p:spTree>
    <p:extLst>
      <p:ext uri="{BB962C8B-B14F-4D97-AF65-F5344CB8AC3E}">
        <p14:creationId xmlns:p14="http://schemas.microsoft.com/office/powerpoint/2010/main" val="1289709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883A-C2F5-453B-AEB2-475FC0C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1A3C6-05EF-4ED4-B672-68D27F77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02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8170D-F045-47DC-81D8-0DC2E238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When does deeper multi-bank buffering outperform fixed two-bank ping-pong?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Can a runtime bank limit retain fixed four-bank performance with fewer eligible banks?</a:t>
            </a:r>
          </a:p>
        </p:txBody>
      </p:sp>
    </p:spTree>
    <p:extLst>
      <p:ext uri="{BB962C8B-B14F-4D97-AF65-F5344CB8AC3E}">
        <p14:creationId xmlns:p14="http://schemas.microsoft.com/office/powerpoint/2010/main" val="1035069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095BB-FB4F-48D1-B7D9-5E8B721C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Memory-induced MAC stalls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BCAB3-52A1-498C-8288-7A638FA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03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F5682-3F63-44FD-A6CE-CF191B82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Tile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A4E5F-4B7A-46F0-99B5-71DEBFF3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828925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66E08-D136-491E-B5B6-C9BE1D6C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Transfer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FCBC0-3330-4363-8548-D31AB029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2828925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B5533-D1DA-43B2-BB72-ACCF7270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Scratchpad banks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E970-1D8D-42CB-90E6-630B1E99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2828925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814F5-637D-46B0-8ADF-606EF852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MAC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7E005-DCEE-4785-B553-B5649AC4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The MAC waits whenever no completed tile is READY.</a:t>
            </a:r>
          </a:p>
        </p:txBody>
      </p:sp>
    </p:spTree>
    <p:extLst>
      <p:ext uri="{BB962C8B-B14F-4D97-AF65-F5344CB8AC3E}">
        <p14:creationId xmlns:p14="http://schemas.microsoft.com/office/powerpoint/2010/main" val="642865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8FC94-2B91-45DC-92EC-B2B5776A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Scratchpad model and tiling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46231-CC2C-4D1C-AE66-B54318B0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04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FB607-1791-4002-81C3-E1360680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Each tile contains activation and weight pairs; the MAC verifies their product sum.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Synchronous behavioral RAM represents an RTL scratchpad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Effective tile transfer cycles abstract slower memory latency; no physical SRAM or DRAM protocol is modeled.</a:t>
            </a:r>
          </a:p>
        </p:txBody>
      </p:sp>
    </p:spTree>
    <p:extLst>
      <p:ext uri="{BB962C8B-B14F-4D97-AF65-F5344CB8AC3E}">
        <p14:creationId xmlns:p14="http://schemas.microsoft.com/office/powerpoint/2010/main" val="2040956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C0292-74EE-41A0-B4A3-499C3CB9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Relevant prior accelerator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05447-F9D0-4ED1-89D8-56C4D9A0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05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21056-358D-4832-9D15-A9A46718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Eyeriss: distributed local storage and row-stationary reuse.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TPU: large software-controlled on-chip memory with systolic compute.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Eyeriss v2: flexible network for varying layer shapes and sparse data.</a:t>
            </a:r>
          </a:p>
        </p:txBody>
      </p:sp>
    </p:spTree>
    <p:extLst>
      <p:ext uri="{BB962C8B-B14F-4D97-AF65-F5344CB8AC3E}">
        <p14:creationId xmlns:p14="http://schemas.microsoft.com/office/powerpoint/2010/main" val="202077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653A1-0A78-41F5-9C53-136C69E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Published results: conditions matter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34EAB-EA5D-47CD-8924-D242C8FF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06 / 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18EB6-48AB-4479-94BF-9FAA386E8D7E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1012031">
                <a:tc>
                  <a:txBody>
                    <a:bodyPr/>
                    <a:lstStyle/>
                    <a:p>
                      <a: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Workload and platform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Published metric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t>Eyeriss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AlexNet conv., batch 4, ASIC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35 frames/s; 0.0029 DRAM accesses/MAC</a:t>
                      </a:r>
                    </a:p>
                  </a:txBody>
                  <a:tcPr marL="91440" marR="91440" marT="45720" marB="45720"/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t>TPU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datacenter inference, ASIC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~15–30× vs its CPU/GPU</a:t>
                      </a:r>
                    </a:p>
                  </a:txBody>
                  <a:tcPr marL="91440" marR="91440" marT="45720" marB="45720"/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t>Eyeriss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Sparse MobileNet, batch 1, 65 nm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1470.6 inferences/s; 12.6× vs Eyeriss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128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4EB69-5EF0-4AAE-8B81-59FF2A87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Cross-paper comparability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B5C6D-5230-4CE4-A921-CBCC3049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07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933AA-ACF3-4A2D-BBB8-4FA4FDD9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Our measured unit is cycles to complete a specified synthetic tile 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Published frame rates, inference rates, energy, and speedups use different workloads and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Therefore the published comparison is QUALITATIVE; controlled RTL baselines answer the scheduling question.</a:t>
            </a:r>
          </a:p>
        </p:txBody>
      </p:sp>
    </p:spTree>
    <p:extLst>
      <p:ext uri="{BB962C8B-B14F-4D97-AF65-F5344CB8AC3E}">
        <p14:creationId xmlns:p14="http://schemas.microsoft.com/office/powerpoint/2010/main" val="2101928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8AE28-CE00-4CBA-8131-221F2ECB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Single-buffer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9292B-D095-4685-A1C3-CD1CBF16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08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92242-57D3-4BAD-A869-6521F044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LOAD 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9406-E8A5-4F53-889B-DE301610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24175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D5834-76C4-46FA-A372-95BCA96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COMPUTE tile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A9FE2-BCB3-43F8-9080-6E2F66F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24175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1DE64-855E-4831-83C3-82B52700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LOAD next tile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7ED9C-4A23-4EBD-9AE9-74078ED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A bank cannot load while its tile is computing.</a:t>
            </a:r>
          </a:p>
        </p:txBody>
      </p:sp>
    </p:spTree>
    <p:extLst>
      <p:ext uri="{BB962C8B-B14F-4D97-AF65-F5344CB8AC3E}">
        <p14:creationId xmlns:p14="http://schemas.microsoft.com/office/powerpoint/2010/main" val="2099146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2648C-B910-4EB5-9902-103AE413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Fixed two-bank ping-pong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4A91E-EE11-4ACA-8957-E467D88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09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ED126-71CB-4EA7-831C-FC064079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LOAD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B6461-CC84-4991-BE19-4819E232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24175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25A05-AA52-406E-AF8B-DEF5BF7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COMPUTE A + LOAD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AA538-0D7C-47EF-BF8C-23777FCA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24175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68E7B-1864-4D55-97E1-F4B785A9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COMPUTE B + LOAD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3E4E0-B45C-4732-8E2B-D0AED3E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Tile IDs alternate between A and B.</a:t>
            </a:r>
          </a:p>
        </p:txBody>
      </p:sp>
    </p:spTree>
    <p:extLst>
      <p:ext uri="{BB962C8B-B14F-4D97-AF65-F5344CB8AC3E}">
        <p14:creationId xmlns:p14="http://schemas.microsoft.com/office/powerpoint/2010/main" val="2072614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538BB-12C8-4E02-B21D-035A2B62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Fixed four-bank availability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CCF49-F503-49C0-8FE0-CBD27C29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10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CC08F-19CC-45A4-BD87-4EDCE6F7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EMPTY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B5AF8-AB3B-410D-AB1D-B3B2A5E0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24175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41517-332A-422F-836D-856148D5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READY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A5173-359F-45E1-B02C-EA9EDC77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24175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E7A9A-F9B3-4860-BB51-A6A7687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28875"/>
            <a:ext cx="3105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MAC 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18AEF-DEC6-4722-B0DA-A2FC6A80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Four banks are always eligible for new tile allocation.</a:t>
            </a:r>
          </a:p>
        </p:txBody>
      </p:sp>
    </p:spTree>
    <p:extLst>
      <p:ext uri="{BB962C8B-B14F-4D97-AF65-F5344CB8AC3E}">
        <p14:creationId xmlns:p14="http://schemas.microsoft.com/office/powerpoint/2010/main" val="547355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1925D-C947-41BD-A312-E14B5AFD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Static cyclic multi-bank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19A78-85B3-4159-B9BC-0C320590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11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EBDD0-3C4B-4743-A78E-0E6A3B13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A tile's bank is fixed by tile ID modulo four; compute dispatch stays in tile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This is a generic literature-inspired RTL scheduling proxy, not an exact reproduction of a published accelerator.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It shares the same RAM, MAC, workload, and simulator as the proposed policy.</a:t>
            </a:r>
          </a:p>
        </p:txBody>
      </p:sp>
    </p:spTree>
    <p:extLst>
      <p:ext uri="{BB962C8B-B14F-4D97-AF65-F5344CB8AC3E}">
        <p14:creationId xmlns:p14="http://schemas.microsoft.com/office/powerpoint/2010/main" val="14829345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07B84-4B62-46E0-9B03-B1784472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Limitation of fixed buffering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1EBC5-FC49-41E3-8F1D-6B5FFFD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12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2FA31-4FEB-4E2F-998D-72F4DC9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Stable compute-bound workloads often need only two eligible banks.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A fixed four-bank controller offers no extra cycle benefit in the measured steady 8/8 and 8/20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The new mechanism changes allocation eligibility according to observed starvation.</a:t>
            </a:r>
          </a:p>
        </p:txBody>
      </p:sp>
    </p:spTree>
    <p:extLst>
      <p:ext uri="{BB962C8B-B14F-4D97-AF65-F5344CB8AC3E}">
        <p14:creationId xmlns:p14="http://schemas.microsoft.com/office/powerpoint/2010/main" val="1684000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74E36-B186-45CA-BB0E-C549E2E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Runtime depth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4ABAC-0CEF-452A-8617-2C4254A9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13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24CA6-D7A8-4D58-96EC-F4CA7D0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2381250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Stall statistics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B8D8F-8707-42B9-894C-419E7F8F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876550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7E628-1247-4BC2-A72B-A77B967D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2381250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Hysteresis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6E3AD-6F79-4215-A665-2F4FC596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2876550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9BA91-A5C0-449C-B84B-4074488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381250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Limit 2 / 3 /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5666E-8BF5-4856-AFB0-07F6DE4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2876550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8220A-5E32-40DF-A54A-95B81461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381250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Existing scheduler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A5124-4C16-45FD-8DA0-EAD4587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Four physical banks remain. A lower limit blocks new allocation only; in-flight tiles drain.</a:t>
            </a:r>
          </a:p>
        </p:txBody>
      </p:sp>
    </p:spTree>
    <p:extLst>
      <p:ext uri="{BB962C8B-B14F-4D97-AF65-F5344CB8AC3E}">
        <p14:creationId xmlns:p14="http://schemas.microsoft.com/office/powerpoint/2010/main" val="639370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C0006-EDBA-4A66-9E0F-17D51EC5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Bank state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A7D4F-EBC0-4117-8542-70BEA0FF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14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CDF64-37D3-4FBD-BC55-440C4C6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EMPTY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AB1EF-C032-4638-BA0E-1A2E93E0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828925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48678-1710-43B6-AF82-179D2AF1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LOADING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3955C-F2FD-4C75-88B9-3F863377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2828925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666ED-2A45-4901-BE54-6A9B653E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950B5-59E4-4DDF-BDEF-C591671F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2828925"/>
            <a:ext cx="238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68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3BAE7-2C8F-40B2-9115-3E5BB93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333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168AA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COMPUTING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140BC-A937-4CBD-BAF5-3C00F43C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MAC completion returns a bank to EMPTY.</a:t>
            </a:r>
          </a:p>
        </p:txBody>
      </p:sp>
    </p:spTree>
    <p:extLst>
      <p:ext uri="{BB962C8B-B14F-4D97-AF65-F5344CB8AC3E}">
        <p14:creationId xmlns:p14="http://schemas.microsoft.com/office/powerpoint/2010/main" val="6586385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B4496-4597-4976-B938-1F6AD425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Hysteresis and starvation observation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75E04-B082-4298-AC60-34CE72A4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15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62E75-1836-4B37-9E2C-F45038A0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Observation window: 32 clocks. A stall event requires unfinished work, an available MAC, and no READY bank.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Stalls ≥ 8: 2→3→4. Stalls ≤ 2: 4→3→2. Other windows keep the current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Integer comparisons avoid RTL division. Average limit is an effective buffering-depth metric, not measured power.</a:t>
            </a:r>
          </a:p>
        </p:txBody>
      </p:sp>
    </p:spTree>
    <p:extLst>
      <p:ext uri="{BB962C8B-B14F-4D97-AF65-F5344CB8AC3E}">
        <p14:creationId xmlns:p14="http://schemas.microsoft.com/office/powerpoint/2010/main" val="5734413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6C94E-E3CE-48EB-BEC8-903B724F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Verification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DDF8D-1916-4A42-B2B7-CD476A9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16 / 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508B6-32F5-4EE5-91DC-60124E2F2561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809625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Observed result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t>Functional correctness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 / 14 PASS; every tile MAC and ID checked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t>Performance sweep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129 / 129 STATUS=PASS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t>Regression preservation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103 old runs: seven core metrics unchanged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t>Analytical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129 cycle/accounting checks; 6 VCD transitions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5622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FE13C-CB87-4FCA-886F-522FF3EA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Fixed latency: buffering overlaps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D4A55-86A1-4A83-8B0D-0EBC6DAA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17 / 24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69006E1-349F-4566-9C7B-95F048A41D5C}"/>
              </a:ext>
            </a:extLst>
          </p:cNvPr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71e2c89a1a42cc"/>
          </a:graphicData>
        </a:graphic>
      </p:graphicFrame>
    </p:spTree>
    <p:extLst>
      <p:ext uri="{BB962C8B-B14F-4D97-AF65-F5344CB8AC3E}">
        <p14:creationId xmlns:p14="http://schemas.microsoft.com/office/powerpoint/2010/main" val="1552644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35DFF-F11D-4E4B-884D-2EA8B7B5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Variable latency: a third bank helps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F8190-57FE-4044-880E-30666FCC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18 / 24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ACF2A67-0F2C-4151-9071-9217B91F9607}"/>
              </a:ext>
            </a:extLst>
          </p:cNvPr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b60d79be11461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DFD6E-2322-463A-A40E-54069ECC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Fixed four-bank speedup over ping-pong: 539 / 497 = 1.0845×</a:t>
            </a:r>
          </a:p>
        </p:txBody>
      </p:sp>
    </p:spTree>
    <p:extLst>
      <p:ext uri="{BB962C8B-B14F-4D97-AF65-F5344CB8AC3E}">
        <p14:creationId xmlns:p14="http://schemas.microsoft.com/office/powerpoint/2010/main" val="8904578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296AE-1925-46D1-B04B-D88FA17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Bank scaling saturates at three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3DE6C-6170-4B8B-AF37-24A480C1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19 / 24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C867D65-241E-4E43-8C7D-A83AB1B900E4}"/>
              </a:ext>
            </a:extLst>
          </p:cNvPr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3066766c204b46"/>
          </a:graphicData>
        </a:graphic>
      </p:graphicFrame>
    </p:spTree>
    <p:extLst>
      <p:ext uri="{BB962C8B-B14F-4D97-AF65-F5344CB8AC3E}">
        <p14:creationId xmlns:p14="http://schemas.microsoft.com/office/powerpoint/2010/main" val="10617030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584FD-DE7E-4206-A470-4B887E02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Stable workloads retain fixed-four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E59E1-2FBF-49E0-976A-CF49AD30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20 / 24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FA6C0E0-1F7D-4322-9781-74EE16FBE97D}"/>
              </a:ext>
            </a:extLst>
          </p:cNvPr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83f94ac5974be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79444-1A0E-45C0-81BF-666629C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Runtime average limit: 2.022 and 2.045 banks</a:t>
            </a:r>
          </a:p>
        </p:txBody>
      </p:sp>
    </p:spTree>
    <p:extLst>
      <p:ext uri="{BB962C8B-B14F-4D97-AF65-F5344CB8AC3E}">
        <p14:creationId xmlns:p14="http://schemas.microsoft.com/office/powerpoint/2010/main" val="19086108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04AF-A0B3-4490-947C-1E4E3089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Variable timing exposes a tradeoff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91F50-C00C-493B-BE93-7843C03A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21 / 24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1E97417-3654-4110-B395-0DD308FB3FA4}"/>
              </a:ext>
            </a:extLst>
          </p:cNvPr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ff357afdb64cf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90F61-A410-4F28-9C91-B1AA0BF2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Runtime: 4.27% more cycles than fixed 4; average limit 2.50</a:t>
            </a:r>
          </a:p>
        </p:txBody>
      </p:sp>
    </p:spTree>
    <p:extLst>
      <p:ext uri="{BB962C8B-B14F-4D97-AF65-F5344CB8AC3E}">
        <p14:creationId xmlns:p14="http://schemas.microsoft.com/office/powerpoint/2010/main" val="14222628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5B00-89C4-482F-87BE-1B037A4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Phase change: measured mode waveform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24136-C295-445F-979D-304E5F61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22 / 24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C9600-2C92-4633-8D6B-10C65F90E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e4779c7554b9d"/>
          <a:stretch xmlns:a="http://schemas.openxmlformats.org/drawingml/2006/main"/>
        </p:blipFill>
        <p:spPr>
          <a:xfrm xmlns:a="http://schemas.openxmlformats.org/drawingml/2006/main">
            <a:off x="2180793" y="1485900"/>
            <a:ext cx="7830415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D9431-4FB7-4DBA-945E-2AF5475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2033 runtime vs 1991 fixed-four cycles; average limit 2.582 banks</a:t>
            </a:r>
          </a:p>
        </p:txBody>
      </p:sp>
    </p:spTree>
    <p:extLst>
      <p:ext uri="{BB962C8B-B14F-4D97-AF65-F5344CB8AC3E}">
        <p14:creationId xmlns:p14="http://schemas.microsoft.com/office/powerpoint/2010/main" val="336517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80ED9-628E-4123-B385-C08D5A4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Equal physical word 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6EB50-A566-4E07-84B2-4DBFEFFD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23 / 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5D471-8AE0-496B-ACD5-F06BA31C16B6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1349375">
                <a:tc>
                  <a:txBody>
                    <a:bodyPr/>
                    <a:lstStyle/>
                    <a:p>
                      <a:r>
                        <a:t>Scenario (16 total RAM words)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Ping-pong 2×8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Fixed 4×4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Runtime 4×4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1349375">
                <a:tc>
                  <a:txBody>
                    <a:bodyPr/>
                    <a:lstStyle/>
                    <a:p>
                      <a:r>
                        <a:t>Variable, 64 tiles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1025</a:t>
                      </a:r>
                    </a:p>
                  </a:txBody>
                  <a:tcPr marL="91440" marR="91440" marT="45720" marB="45720"/>
                </a:tc>
              </a:tr>
              <a:tr h="1349375">
                <a:tc>
                  <a:txBody>
                    <a:bodyPr/>
                    <a:lstStyle/>
                    <a:p>
                      <a:r>
                        <a:t>Phase, 96 tiles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2033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6754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AB2CE-C02B-49DE-883A-1D8FBDBA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32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B"/>
                </a:solidFill>
                <a:latin typeface="Arial"/>
                <a:ea typeface="Arial"/>
                <a:cs typeface="Arial"/>
              </a:rPr>
              <a:t>Measured conclusion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6D575-7AC1-43FB-A24F-723AC2A4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8F95A-E8AB-465F-8EE6-01E44C23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Four-bank capacity helps under the tested variable timing; the static four-bank proxy matches availability scheduling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Runtime depth matches fixed-four time in stable cases and averages near two eligible banks.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9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73"/>
                </a:solidFill>
                <a:latin typeface="Arial"/>
                <a:ea typeface="Arial"/>
                <a:cs typeface="Arial"/>
              </a:rPr>
              <a:t>Under changing timing it averages 2.50–2.58 banks with 2.11–4.27% more cycles. No physical power benefit was measured.</a:t>
            </a:r>
          </a:p>
        </p:txBody>
      </p:sp>
    </p:spTree>
    <p:extLst>
      <p:ext uri="{BB962C8B-B14F-4D97-AF65-F5344CB8AC3E}">
        <p14:creationId xmlns:p14="http://schemas.microsoft.com/office/powerpoint/2010/main" val="577229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2026-10-09T17:36:38.7560000Z</dcterms:created>
  <dcterms:modified xsi:type="dcterms:W3CDTF">2026-10-09T17:36:38.7560000Z</dcterms:modified>
</coreProperties>
</file>